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Political stakeholders</c:v>
          </c:tx>
          <c:spPr>
            <a:solidFill>
              <a:srgbClr val="3D8DFF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B8BCC4"/>
              </a:solidFill>
            </c:spPr>
            <c:extLst>
              <c:ext xmlns:c16="http://schemas.microsoft.com/office/drawing/2014/chart" uri="{C3380CC4-5D6E-409C-BE32-E72D297353CC}">
                <c16:uniqueId val="{00000001-96B6-2E43-8215-10639A3F264D}"/>
              </c:ext>
            </c:extLst>
          </c:dPt>
          <c:dPt>
            <c:idx val="1"/>
            <c:invertIfNegative val="0"/>
            <c:bubble3D val="0"/>
            <c:spPr>
              <a:solidFill>
                <a:srgbClr val="6DCBF4"/>
              </a:solidFill>
            </c:spPr>
            <c:extLst>
              <c:ext xmlns:c16="http://schemas.microsoft.com/office/drawing/2014/chart" uri="{C3380CC4-5D6E-409C-BE32-E72D297353CC}">
                <c16:uniqueId val="{00000003-96B6-2E43-8215-10639A3F264D}"/>
              </c:ext>
            </c:extLst>
          </c:dPt>
          <c:dPt>
            <c:idx val="2"/>
            <c:invertIfNegative val="0"/>
            <c:bubble3D val="0"/>
            <c:spPr>
              <a:solidFill>
                <a:srgbClr val="6DCBF4"/>
              </a:solidFill>
            </c:spPr>
            <c:extLst>
              <c:ext xmlns:c16="http://schemas.microsoft.com/office/drawing/2014/chart" uri="{C3380CC4-5D6E-409C-BE32-E72D297353CC}">
                <c16:uniqueId val="{00000005-96B6-2E43-8215-10639A3F264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6B6-2E43-8215-10639A3F26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1111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Starting point</c:v>
              </c:pt>
              <c:pt idx="1">
                <c:v>Year 1</c:v>
              </c:pt>
              <c:pt idx="2">
                <c:v>Year 2</c:v>
              </c:pt>
              <c:pt idx="3">
                <c:v>Year 3</c:v>
              </c:pt>
            </c:str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20</c:v>
              </c:pt>
              <c:pt idx="2">
                <c:v>100</c:v>
              </c:pt>
              <c:pt idx="3">
                <c:v>150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96B6-2E43-8215-10639A3F26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1111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D6673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40"/>
      </c:valAx>
      <c:spPr>
        <a:noFill/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core problem was a lack of system and coverage. Your contribution was a scalable operating rhythm.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project facts and metrics from Agnes Iwaye; no external sources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7F37D43-AA89-4C08-899E-7965D792F3B8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PROJECT MANAGEMENT PORTFOLIO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53015E-514D-4476-A56E-81F0F25257B1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7143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398"/>
          </a:bodyPr>
          <a:lstStyle/>
          <a:p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Building government relationships into institutional influence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AC3E0-6506-44C5-94FC-A242A24A5E5E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Stakeholder Management Case Study</a:t>
            </a:r>
          </a:p>
          <a:p>
            <a:pPr algn="l">
              <a:defRPr sz="19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Bobby Dodd Institute</a:t>
            </a:r>
          </a:p>
        </p:txBody>
      </p:sp>
      <p:sp>
        <p:nvSpPr>
          <p:cNvPr id="4" name="cover-field">
            <a:extLst>
              <a:ext uri="{FF2B5EF4-FFF2-40B4-BE49-F238E27FC236}">
                <a16:creationId xmlns:a16="http://schemas.microsoft.com/office/drawing/2014/main" id="{0D236D42-0432-44AB-BF3E-0E5DB1E47724}"/>
              </a:ext>
            </a:extLst>
          </p:cNvPr>
          <p:cNvSpPr>
            <a:spLocks noGrp="1"/>
          </p:cNvSpPr>
          <p:nvPr/>
        </p:nvSpPr>
        <p:spPr>
          <a:xfrm>
            <a:off x="8239125" y="714375"/>
            <a:ext cx="3143250" cy="4857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16C870-8466-45A2-B696-E7FE9E14B40A}"/>
              </a:ext>
            </a:extLst>
          </p:cNvPr>
          <p:cNvSpPr>
            <a:spLocks noGrp="1"/>
          </p:cNvSpPr>
          <p:nvPr/>
        </p:nvSpPr>
        <p:spPr>
          <a:xfrm>
            <a:off x="8667750" y="1238250"/>
            <a:ext cx="2286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843"/>
          </a:bodyPr>
          <a:lstStyle/>
          <a:p>
            <a:pPr algn="ctr">
              <a:defRPr sz="5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&lt;10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F35E40-47A6-4BC8-947C-DD1D0479CDAD}"/>
              </a:ext>
            </a:extLst>
          </p:cNvPr>
          <p:cNvSpPr>
            <a:spLocks noGrp="1"/>
          </p:cNvSpPr>
          <p:nvPr/>
        </p:nvSpPr>
        <p:spPr>
          <a:xfrm>
            <a:off x="8667750" y="2143125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political stakeholders</a:t>
            </a:r>
          </a:p>
          <a:p>
            <a:pPr algn="ctr">
              <a:defRPr sz="15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at project start</a:t>
            </a:r>
          </a:p>
        </p:txBody>
      </p:sp>
      <p:sp>
        <p:nvSpPr>
          <p:cNvPr id="7" name="cover-rule">
            <a:extLst>
              <a:ext uri="{FF2B5EF4-FFF2-40B4-BE49-F238E27FC236}">
                <a16:creationId xmlns:a16="http://schemas.microsoft.com/office/drawing/2014/main" id="{05A1000C-7E45-4D00-B9C6-F8B27DF913BE}"/>
              </a:ext>
            </a:extLst>
          </p:cNvPr>
          <p:cNvSpPr>
            <a:spLocks noGrp="1"/>
          </p:cNvSpPr>
          <p:nvPr/>
        </p:nvSpPr>
        <p:spPr>
          <a:xfrm>
            <a:off x="9001125" y="3095625"/>
            <a:ext cx="16192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5212E-EB03-493D-9184-6751F75E359E}"/>
              </a:ext>
            </a:extLst>
          </p:cNvPr>
          <p:cNvSpPr>
            <a:spLocks noGrp="1"/>
          </p:cNvSpPr>
          <p:nvPr/>
        </p:nvSpPr>
        <p:spPr>
          <a:xfrm>
            <a:off x="8667750" y="3429000"/>
            <a:ext cx="2286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843"/>
          </a:bodyPr>
          <a:lstStyle/>
          <a:p>
            <a:pPr algn="ctr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39CADF-88E4-46C7-A0A8-B996FF30AEBA}"/>
              </a:ext>
            </a:extLst>
          </p:cNvPr>
          <p:cNvSpPr>
            <a:spLocks noGrp="1"/>
          </p:cNvSpPr>
          <p:nvPr/>
        </p:nvSpPr>
        <p:spPr>
          <a:xfrm>
            <a:off x="8667750" y="4333875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stakeholders engaged</a:t>
            </a:r>
          </a:p>
          <a:p>
            <a:pPr algn="ctr">
              <a:defRPr sz="15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by Year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F9FB6-D105-46DD-8EDA-8CEFC8C77650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490"/>
          </a:bodyPr>
          <a:lstStyle/>
          <a:p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Agnes Iwaye | Project Manager</a:t>
            </a:r>
          </a:p>
        </p:txBody>
      </p:sp>
    </p:spTree>
    <p:extLst>
      <p:ext uri="{BB962C8B-B14F-4D97-AF65-F5344CB8AC3E}">
        <p14:creationId xmlns:p14="http://schemas.microsoft.com/office/powerpoint/2010/main" val="135780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2441249C-548B-4956-9F5D-D908C501F6A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851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challenge was not access—it was a repeatable engagement system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8935B251-27C5-4775-B90E-64C370F07DA0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13144D77-A6CA-4480-8150-C3CFF1B00FEC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A1647-0858-48C1-B409-E252022C1B17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722"/>
          </a:bodyPr>
          <a:lstStyle/>
          <a:p>
            <a:pPr algn="l">
              <a:defRPr sz="18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Starting point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82C2A8-9B66-45DB-874E-525045BF6AD6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162"/>
          </a:bodyPr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Fewer than 10 political stakeholders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4F6A74-66BE-4C95-B66C-37DC3478F5F2}"/>
              </a:ext>
            </a:extLst>
          </p:cNvPr>
          <p:cNvSpPr>
            <a:spLocks noGrp="1"/>
          </p:cNvSpPr>
          <p:nvPr/>
        </p:nvSpPr>
        <p:spPr>
          <a:xfrm>
            <a:off x="400050" y="2571750"/>
            <a:ext cx="495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Limited relationship coverage reduced the organization’s ability to secure site visits, participate consistently in legislative activity, and build sustained government support.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F6C7AA-A672-4467-A56E-6473E52830F5}"/>
              </a:ext>
            </a:extLst>
          </p:cNvPr>
          <p:cNvSpPr>
            <a:spLocks noGrp="1"/>
          </p:cNvSpPr>
          <p:nvPr/>
        </p:nvSpPr>
        <p:spPr>
          <a:xfrm>
            <a:off x="6572250" y="14287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722"/>
          </a:bodyPr>
          <a:lstStyle/>
          <a:p>
            <a:pPr algn="l">
              <a:defRPr sz="18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C2395-4FBE-4C78-9DFC-33D1277CAA81}"/>
              </a:ext>
            </a:extLst>
          </p:cNvPr>
          <p:cNvSpPr>
            <a:spLocks noGrp="1"/>
          </p:cNvSpPr>
          <p:nvPr/>
        </p:nvSpPr>
        <p:spPr>
          <a:xfrm>
            <a:off x="6572250" y="1866900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1199"/>
          </a:bodyPr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structured stakeholder-management program</a:t>
            </a:r>
          </a:p>
        </p:txBody>
      </p:sp>
      <p:sp>
        <p:nvSpPr>
          <p:cNvPr id="9" name="action-0">
            <a:extLst>
              <a:ext uri="{FF2B5EF4-FFF2-40B4-BE49-F238E27FC236}">
                <a16:creationId xmlns:a16="http://schemas.microsoft.com/office/drawing/2014/main" id="{81D5FCCE-B1DF-4FC7-954F-E9662DF5DADB}"/>
              </a:ext>
            </a:extLst>
          </p:cNvPr>
          <p:cNvSpPr>
            <a:spLocks noGrp="1"/>
          </p:cNvSpPr>
          <p:nvPr/>
        </p:nvSpPr>
        <p:spPr>
          <a:xfrm>
            <a:off x="6572250" y="2647950"/>
            <a:ext cx="1333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102E76-CD4C-4C4D-8424-D7BB22F6AD11}"/>
              </a:ext>
            </a:extLst>
          </p:cNvPr>
          <p:cNvSpPr>
            <a:spLocks noGrp="1"/>
          </p:cNvSpPr>
          <p:nvPr/>
        </p:nvSpPr>
        <p:spPr>
          <a:xfrm>
            <a:off x="6858000" y="2533650"/>
            <a:ext cx="4524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Identify relevant public officials and staff</a:t>
            </a:r>
          </a:p>
        </p:txBody>
      </p:sp>
      <p:sp>
        <p:nvSpPr>
          <p:cNvPr id="11" name="action-1">
            <a:extLst>
              <a:ext uri="{FF2B5EF4-FFF2-40B4-BE49-F238E27FC236}">
                <a16:creationId xmlns:a16="http://schemas.microsoft.com/office/drawing/2014/main" id="{A703BC37-3ABB-45E8-A614-873D4484AE9B}"/>
              </a:ext>
            </a:extLst>
          </p:cNvPr>
          <p:cNvSpPr>
            <a:spLocks noGrp="1"/>
          </p:cNvSpPr>
          <p:nvPr/>
        </p:nvSpPr>
        <p:spPr>
          <a:xfrm>
            <a:off x="6572250" y="3200400"/>
            <a:ext cx="1333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5BA057-5EB9-4F16-99F3-57D4900194FE}"/>
              </a:ext>
            </a:extLst>
          </p:cNvPr>
          <p:cNvSpPr>
            <a:spLocks noGrp="1"/>
          </p:cNvSpPr>
          <p:nvPr/>
        </p:nvSpPr>
        <p:spPr>
          <a:xfrm>
            <a:off x="6858000" y="3086100"/>
            <a:ext cx="4524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 influence, interest, and relationship status</a:t>
            </a:r>
          </a:p>
        </p:txBody>
      </p:sp>
      <p:sp>
        <p:nvSpPr>
          <p:cNvPr id="13" name="action-2">
            <a:extLst>
              <a:ext uri="{FF2B5EF4-FFF2-40B4-BE49-F238E27FC236}">
                <a16:creationId xmlns:a16="http://schemas.microsoft.com/office/drawing/2014/main" id="{A0737529-AC43-471A-86C9-4F6ADF1C8D22}"/>
              </a:ext>
            </a:extLst>
          </p:cNvPr>
          <p:cNvSpPr>
            <a:spLocks noGrp="1"/>
          </p:cNvSpPr>
          <p:nvPr/>
        </p:nvSpPr>
        <p:spPr>
          <a:xfrm>
            <a:off x="6572250" y="3752850"/>
            <a:ext cx="1333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3B69BC-44DF-4536-B672-E61483B29C9D}"/>
              </a:ext>
            </a:extLst>
          </p:cNvPr>
          <p:cNvSpPr>
            <a:spLocks noGrp="1"/>
          </p:cNvSpPr>
          <p:nvPr/>
        </p:nvSpPr>
        <p:spPr>
          <a:xfrm>
            <a:off x="6858000" y="3638550"/>
            <a:ext cx="4524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Tailor communication by stakeholder need</a:t>
            </a:r>
          </a:p>
        </p:txBody>
      </p:sp>
      <p:sp>
        <p:nvSpPr>
          <p:cNvPr id="15" name="action-3">
            <a:extLst>
              <a:ext uri="{FF2B5EF4-FFF2-40B4-BE49-F238E27FC236}">
                <a16:creationId xmlns:a16="http://schemas.microsoft.com/office/drawing/2014/main" id="{8A42E2CF-B4BB-46ED-95B8-C5CF60325C08}"/>
              </a:ext>
            </a:extLst>
          </p:cNvPr>
          <p:cNvSpPr>
            <a:spLocks noGrp="1"/>
          </p:cNvSpPr>
          <p:nvPr/>
        </p:nvSpPr>
        <p:spPr>
          <a:xfrm>
            <a:off x="6572250" y="4305300"/>
            <a:ext cx="133350" cy="1333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832CC4-EECF-46B6-BDCB-51A0842747E6}"/>
              </a:ext>
            </a:extLst>
          </p:cNvPr>
          <p:cNvSpPr>
            <a:spLocks noGrp="1"/>
          </p:cNvSpPr>
          <p:nvPr/>
        </p:nvSpPr>
        <p:spPr>
          <a:xfrm>
            <a:off x="6858000" y="4191000"/>
            <a:ext cx="4524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902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 follow-up discipline and engagement records</a:t>
            </a:r>
          </a:p>
        </p:txBody>
      </p:sp>
      <p:sp>
        <p:nvSpPr>
          <p:cNvPr id="17" name="action-4">
            <a:extLst>
              <a:ext uri="{FF2B5EF4-FFF2-40B4-BE49-F238E27FC236}">
                <a16:creationId xmlns:a16="http://schemas.microsoft.com/office/drawing/2014/main" id="{2E0DD78C-5A49-4433-9675-3578DB561B42}"/>
              </a:ext>
            </a:extLst>
          </p:cNvPr>
          <p:cNvSpPr>
            <a:spLocks noGrp="1"/>
          </p:cNvSpPr>
          <p:nvPr/>
        </p:nvSpPr>
        <p:spPr>
          <a:xfrm>
            <a:off x="6572250" y="4857750"/>
            <a:ext cx="133350" cy="1333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EC7325-6F97-46B0-A597-D86323AE7C6A}"/>
              </a:ext>
            </a:extLst>
          </p:cNvPr>
          <p:cNvSpPr>
            <a:spLocks noGrp="1"/>
          </p:cNvSpPr>
          <p:nvPr/>
        </p:nvSpPr>
        <p:spPr>
          <a:xfrm>
            <a:off x="6858000" y="4743450"/>
            <a:ext cx="4524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642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Convert awareness into visits, advocacy, and support</a:t>
            </a:r>
          </a:p>
        </p:txBody>
      </p:sp>
    </p:spTree>
    <p:extLst>
      <p:ext uri="{BB962C8B-B14F-4D97-AF65-F5344CB8AC3E}">
        <p14:creationId xmlns:p14="http://schemas.microsoft.com/office/powerpoint/2010/main" val="72597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1B2F487A-FC11-43B1-BC90-D3371233DB8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21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Structured outreach expanded the network more than fifteenfold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505438D9-F0A9-4848-A99A-9CDB6DAB787B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FBC302ED-CBBA-4DBB-A9A3-606BD65D5D59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400050" y="1524000"/>
          <a:ext cx="70485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75A0959-2654-4BAE-B737-45715D0B049A}"/>
              </a:ext>
            </a:extLst>
          </p:cNvPr>
          <p:cNvSpPr>
            <a:spLocks noGrp="1"/>
          </p:cNvSpPr>
          <p:nvPr/>
        </p:nvSpPr>
        <p:spPr>
          <a:xfrm>
            <a:off x="8191500" y="1762125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529"/>
          </a:bodyPr>
          <a:lstStyle/>
          <a:p>
            <a:pPr algn="ctr">
              <a:defRPr sz="5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15×+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AC4C50-A400-45C1-989A-5D53FC3885C8}"/>
              </a:ext>
            </a:extLst>
          </p:cNvPr>
          <p:cNvSpPr>
            <a:spLocks noGrp="1"/>
          </p:cNvSpPr>
          <p:nvPr/>
        </p:nvSpPr>
        <p:spPr>
          <a:xfrm>
            <a:off x="8096250" y="2619375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network growth</a:t>
            </a:r>
          </a:p>
          <a:p>
            <a:pPr algn="ctr">
              <a:defRPr sz="16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from fewer than 10 to 150+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DF144A-528A-4947-88FE-C8516143727C}"/>
              </a:ext>
            </a:extLst>
          </p:cNvPr>
          <p:cNvSpPr>
            <a:spLocks noGrp="1"/>
          </p:cNvSpPr>
          <p:nvPr/>
        </p:nvSpPr>
        <p:spPr>
          <a:xfrm>
            <a:off x="8096250" y="3714750"/>
            <a:ext cx="314325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06CB9-204D-4FCD-BB7D-6579F9FD4B0A}"/>
              </a:ext>
            </a:extLst>
          </p:cNvPr>
          <p:cNvSpPr>
            <a:spLocks noGrp="1"/>
          </p:cNvSpPr>
          <p:nvPr/>
        </p:nvSpPr>
        <p:spPr>
          <a:xfrm>
            <a:off x="8286750" y="40005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444"/>
          </a:bodyPr>
          <a:lstStyle/>
          <a:p>
            <a:pPr algn="l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Year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7F71D5-ECA5-4AAE-967A-F2A1A8AA8959}"/>
              </a:ext>
            </a:extLst>
          </p:cNvPr>
          <p:cNvSpPr>
            <a:spLocks noGrp="1"/>
          </p:cNvSpPr>
          <p:nvPr/>
        </p:nvSpPr>
        <p:spPr>
          <a:xfrm>
            <a:off x="8286750" y="4305300"/>
            <a:ext cx="266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561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credibility and learn the landscape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CB9B4D-0A8E-4E19-B099-5ABF09DDA102}"/>
              </a:ext>
            </a:extLst>
          </p:cNvPr>
          <p:cNvSpPr>
            <a:spLocks noGrp="1"/>
          </p:cNvSpPr>
          <p:nvPr/>
        </p:nvSpPr>
        <p:spPr>
          <a:xfrm>
            <a:off x="8286750" y="50482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444"/>
          </a:bodyPr>
          <a:lstStyle/>
          <a:p>
            <a:pPr algn="l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Years 2–3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C65C84-2776-4D6D-B177-97532565610C}"/>
              </a:ext>
            </a:extLst>
          </p:cNvPr>
          <p:cNvSpPr>
            <a:spLocks noGrp="1"/>
          </p:cNvSpPr>
          <p:nvPr/>
        </p:nvSpPr>
        <p:spPr>
          <a:xfrm>
            <a:off x="8286750" y="5353050"/>
            <a:ext cx="266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561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 relationships and activate stakeholder support</a:t>
            </a:r>
          </a:p>
        </p:txBody>
      </p:sp>
    </p:spTree>
    <p:extLst>
      <p:ext uri="{BB962C8B-B14F-4D97-AF65-F5344CB8AC3E}">
        <p14:creationId xmlns:p14="http://schemas.microsoft.com/office/powerpoint/2010/main" val="1832668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54FC3D55-3697-4B7A-B59E-AFBEB6E3BB6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186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stakeholder map matched effort to influence and interest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5E94DD1-4069-4AF0-B1FC-92903E7D72CE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8D6E1595-8E06-4899-B129-6A94A4C5AB6C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0E5357-1601-467F-878C-3B34C42D0A87}"/>
              </a:ext>
            </a:extLst>
          </p:cNvPr>
          <p:cNvSpPr>
            <a:spLocks noGrp="1"/>
          </p:cNvSpPr>
          <p:nvPr/>
        </p:nvSpPr>
        <p:spPr>
          <a:xfrm>
            <a:off x="333375" y="136207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847"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HIGH INTEREST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56D0A1-40CF-4E32-83A9-3F3C3DB6FA09}"/>
              </a:ext>
            </a:extLst>
          </p:cNvPr>
          <p:cNvSpPr>
            <a:spLocks noGrp="1"/>
          </p:cNvSpPr>
          <p:nvPr/>
        </p:nvSpPr>
        <p:spPr>
          <a:xfrm>
            <a:off x="333375" y="595312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97"/>
          </a:bodyPr>
          <a:lstStyle/>
          <a:p>
            <a:pPr algn="l"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LOW INTEREST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B990AE-3ADD-4F0B-B7BB-6A516FC072FD}"/>
              </a:ext>
            </a:extLst>
          </p:cNvPr>
          <p:cNvSpPr>
            <a:spLocks noGrp="1"/>
          </p:cNvSpPr>
          <p:nvPr/>
        </p:nvSpPr>
        <p:spPr>
          <a:xfrm>
            <a:off x="2190750" y="61912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208"/>
          </a:bodyPr>
          <a:lstStyle/>
          <a:p>
            <a:pPr algn="ctr"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LOW INFLUENCE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F5A0B4-E1E3-4978-A00B-81EB7F2FA6DB}"/>
              </a:ext>
            </a:extLst>
          </p:cNvPr>
          <p:cNvSpPr>
            <a:spLocks noGrp="1"/>
          </p:cNvSpPr>
          <p:nvPr/>
        </p:nvSpPr>
        <p:spPr>
          <a:xfrm>
            <a:off x="8382000" y="61912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208"/>
          </a:bodyPr>
          <a:lstStyle/>
          <a:p>
            <a:pPr algn="ct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HIGH INFLUENCE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901E1F-272D-4C01-A2C0-08903DC5A337}"/>
              </a:ext>
            </a:extLst>
          </p:cNvPr>
          <p:cNvSpPr>
            <a:spLocks noGrp="1"/>
          </p:cNvSpPr>
          <p:nvPr/>
        </p:nvSpPr>
        <p:spPr>
          <a:xfrm>
            <a:off x="1666875" y="1476375"/>
            <a:ext cx="4762500" cy="2190750"/>
          </a:xfrm>
          <a:prstGeom prst="rect">
            <a:avLst/>
          </a:prstGeom>
          <a:solidFill>
            <a:srgbClr val="F7F8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6C316F-08AA-4CE4-97BF-81E37BB85657}"/>
              </a:ext>
            </a:extLst>
          </p:cNvPr>
          <p:cNvSpPr>
            <a:spLocks noGrp="1"/>
          </p:cNvSpPr>
          <p:nvPr/>
        </p:nvSpPr>
        <p:spPr>
          <a:xfrm>
            <a:off x="6429375" y="1476375"/>
            <a:ext cx="4762500" cy="2190750"/>
          </a:xfrm>
          <a:prstGeom prst="rect">
            <a:avLst/>
          </a:prstGeom>
          <a:solidFill>
            <a:srgbClr val="E8F5FC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5CD920-ACF9-4F3C-99CE-2E124CB9DE03}"/>
              </a:ext>
            </a:extLst>
          </p:cNvPr>
          <p:cNvSpPr>
            <a:spLocks noGrp="1"/>
          </p:cNvSpPr>
          <p:nvPr/>
        </p:nvSpPr>
        <p:spPr>
          <a:xfrm>
            <a:off x="1666875" y="3667125"/>
            <a:ext cx="4762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6C989-EEB7-4E16-BAEE-CFC7A81F8C03}"/>
              </a:ext>
            </a:extLst>
          </p:cNvPr>
          <p:cNvSpPr>
            <a:spLocks noGrp="1"/>
          </p:cNvSpPr>
          <p:nvPr/>
        </p:nvSpPr>
        <p:spPr>
          <a:xfrm>
            <a:off x="6429375" y="3667125"/>
            <a:ext cx="4762500" cy="2190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45321-8317-4768-B6B6-91089AB3C0D4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l">
              <a:defRPr sz="16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KEEP INFORMED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1793F3-F9E7-44DA-94CB-8D7D021B51DE}"/>
              </a:ext>
            </a:extLst>
          </p:cNvPr>
          <p:cNvSpPr>
            <a:spLocks noGrp="1"/>
          </p:cNvSpPr>
          <p:nvPr/>
        </p:nvSpPr>
        <p:spPr>
          <a:xfrm>
            <a:off x="6715125" y="16954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MANAGE CLOSELY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FE76A5-A937-4934-92E0-1F0BC14E428F}"/>
              </a:ext>
            </a:extLst>
          </p:cNvPr>
          <p:cNvSpPr>
            <a:spLocks noGrp="1"/>
          </p:cNvSpPr>
          <p:nvPr/>
        </p:nvSpPr>
        <p:spPr>
          <a:xfrm>
            <a:off x="1952625" y="2143125"/>
            <a:ext cx="4000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District and legislative staff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Coalition and advocacy partners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Local elected officials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Community leaders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3B9AE8-7CA1-45FF-8317-92253E754B87}"/>
              </a:ext>
            </a:extLst>
          </p:cNvPr>
          <p:cNvSpPr>
            <a:spLocks noGrp="1"/>
          </p:cNvSpPr>
          <p:nvPr/>
        </p:nvSpPr>
        <p:spPr>
          <a:xfrm>
            <a:off x="6715125" y="2143125"/>
            <a:ext cx="4000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Committee chairs and legislators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Agency and executive leaders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Grant decision-makers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Senior policy staff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C7358-8016-405B-865C-28C0920D10B3}"/>
              </a:ext>
            </a:extLst>
          </p:cNvPr>
          <p:cNvSpPr>
            <a:spLocks noGrp="1"/>
          </p:cNvSpPr>
          <p:nvPr/>
        </p:nvSpPr>
        <p:spPr>
          <a:xfrm>
            <a:off x="1952625" y="39052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l">
              <a:defRPr sz="16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MONITOR &amp; DEVELOP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5E2F18-F321-4469-AE51-CC3334921FD5}"/>
              </a:ext>
            </a:extLst>
          </p:cNvPr>
          <p:cNvSpPr>
            <a:spLocks noGrp="1"/>
          </p:cNvSpPr>
          <p:nvPr/>
        </p:nvSpPr>
        <p:spPr>
          <a:xfrm>
            <a:off x="6715125" y="39052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l">
              <a:defRPr sz="16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KEEP SATISFIED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8A1FC9-3848-4337-8B7B-2CD52E833706}"/>
              </a:ext>
            </a:extLst>
          </p:cNvPr>
          <p:cNvSpPr>
            <a:spLocks noGrp="1"/>
          </p:cNvSpPr>
          <p:nvPr/>
        </p:nvSpPr>
        <p:spPr>
          <a:xfrm>
            <a:off x="1952625" y="4362450"/>
            <a:ext cx="4000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Emerging candidates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New legislative staff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Community advocates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Prospective allies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F46DDC-38AA-4B59-97F3-34B66F5F1D5C}"/>
              </a:ext>
            </a:extLst>
          </p:cNvPr>
          <p:cNvSpPr>
            <a:spLocks noGrp="1"/>
          </p:cNvSpPr>
          <p:nvPr/>
        </p:nvSpPr>
        <p:spPr>
          <a:xfrm>
            <a:off x="6715125" y="4362450"/>
            <a:ext cx="4000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Appropriations stakeholders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Executive offices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Senior agency contacts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Institutional partners</a:t>
            </a:r>
          </a:p>
        </p:txBody>
      </p:sp>
    </p:spTree>
    <p:extLst>
      <p:ext uri="{BB962C8B-B14F-4D97-AF65-F5344CB8AC3E}">
        <p14:creationId xmlns:p14="http://schemas.microsoft.com/office/powerpoint/2010/main" val="2116556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1B6FCA72-C9E0-4661-B6FF-9042F9749BC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4181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segmented communication plan created consistency without losing relevance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3807A07-A830-46A6-962E-04C9CF71E4D8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0EFA96AA-FFAB-4ADE-B8C4-AA7BC5C7CD75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C47DD-A2F3-4D19-A85C-F87FE33F0E07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The plan defined what each group needed to know, the desired action, and the follow-up cadence.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400050" y="1809750"/>
          <a:ext cx="11391900" cy="40005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Stakeholder group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Engagement objective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channel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Cadence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 measure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Legislators &amp; committee leaders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Build sponsorship and policy support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Briefings, session meetings, site visits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Monthly + session-based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Meeting, visit, public support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Legislative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Maintain working relationships and issue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Email updates, calls, briefing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Biweekly in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Response and follow-up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Agencies &amp; executive offices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Align BDI goals with public priorities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Executive briefings, proposals, reports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Quarterly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Program or funding alignment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Local officials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Build district-level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Events, tours, community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Referral, attendance, endorsement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Coalition partners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Coordinate shared advocacy and campaigns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Working groups, campaign meetings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Monthly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Joint action completed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26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5BE25294-C712-4B2F-93A6-E08A20DADEF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781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Clear ownership prevented stakeholder relationships from going dormant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7FE6037B-61C1-47FA-BAA5-99DB786FD26D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6CB47253-3F3F-4BF5-A7AA-F1A5720A446B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5A261F-C778-4EF8-BA9E-F226F8DEB335}"/>
              </a:ext>
            </a:extLst>
          </p:cNvPr>
          <p:cNvSpPr>
            <a:spLocks noGrp="1"/>
          </p:cNvSpPr>
          <p:nvPr/>
        </p:nvSpPr>
        <p:spPr>
          <a:xfrm>
            <a:off x="400050" y="11620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444"/>
          </a:bodyPr>
          <a:lstStyle/>
          <a:p>
            <a:pPr algn="l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R = Responsible  |  A = Accountable  |  C = Consulted  |  I = Informed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400050" y="1666875"/>
          <a:ext cx="11391900" cy="4095752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Engagement activity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Project Manager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Executive Lead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 Lead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Comms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Development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Identify and prioritize stakeholders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R/A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Prepare stakeholder briefing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Coordinate legislative meeting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Host site visit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Campaign or advocacy engagement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Grant/funding follow-up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Document next steps and follow-up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R/A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2727FA17-50BB-4954-BD80-F832473F0C4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48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five-stage operating rhythm converted contacts into sustained support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AB76538B-D74B-4F38-8C54-52ECD1F50065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3E8BC90D-EFB1-4935-9341-12425C5045B4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onnector-0">
            <a:extLst>
              <a:ext uri="{FF2B5EF4-FFF2-40B4-BE49-F238E27FC236}">
                <a16:creationId xmlns:a16="http://schemas.microsoft.com/office/drawing/2014/main" id="{C7EBD0E3-EAA2-4EE0-91A3-8AEDB2FC0C19}"/>
              </a:ext>
            </a:extLst>
          </p:cNvPr>
          <p:cNvSpPr>
            <a:spLocks noGrp="1"/>
          </p:cNvSpPr>
          <p:nvPr/>
        </p:nvSpPr>
        <p:spPr>
          <a:xfrm>
            <a:off x="2381250" y="2838450"/>
            <a:ext cx="57150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nnector-1">
            <a:extLst>
              <a:ext uri="{FF2B5EF4-FFF2-40B4-BE49-F238E27FC236}">
                <a16:creationId xmlns:a16="http://schemas.microsoft.com/office/drawing/2014/main" id="{B535C346-1A99-48AC-AB44-A99E9083BF2D}"/>
              </a:ext>
            </a:extLst>
          </p:cNvPr>
          <p:cNvSpPr>
            <a:spLocks noGrp="1"/>
          </p:cNvSpPr>
          <p:nvPr/>
        </p:nvSpPr>
        <p:spPr>
          <a:xfrm>
            <a:off x="4667250" y="2838450"/>
            <a:ext cx="57150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nnector-2">
            <a:extLst>
              <a:ext uri="{FF2B5EF4-FFF2-40B4-BE49-F238E27FC236}">
                <a16:creationId xmlns:a16="http://schemas.microsoft.com/office/drawing/2014/main" id="{92FAC09D-F7C9-4B67-8A41-9966948F973A}"/>
              </a:ext>
            </a:extLst>
          </p:cNvPr>
          <p:cNvSpPr>
            <a:spLocks noGrp="1"/>
          </p:cNvSpPr>
          <p:nvPr/>
        </p:nvSpPr>
        <p:spPr>
          <a:xfrm>
            <a:off x="6953250" y="2838450"/>
            <a:ext cx="57150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nector-3">
            <a:extLst>
              <a:ext uri="{FF2B5EF4-FFF2-40B4-BE49-F238E27FC236}">
                <a16:creationId xmlns:a16="http://schemas.microsoft.com/office/drawing/2014/main" id="{44B901B0-4596-4259-811B-BCE114753ADE}"/>
              </a:ext>
            </a:extLst>
          </p:cNvPr>
          <p:cNvSpPr>
            <a:spLocks noGrp="1"/>
          </p:cNvSpPr>
          <p:nvPr/>
        </p:nvSpPr>
        <p:spPr>
          <a:xfrm>
            <a:off x="9239250" y="2838450"/>
            <a:ext cx="57150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ge-0">
            <a:extLst>
              <a:ext uri="{FF2B5EF4-FFF2-40B4-BE49-F238E27FC236}">
                <a16:creationId xmlns:a16="http://schemas.microsoft.com/office/drawing/2014/main" id="{029D7BC5-3622-4D4D-B727-7B0501A5908B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714500" cy="1619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2DAF7-9541-407D-81CE-F8529A6159FB}"/>
              </a:ext>
            </a:extLst>
          </p:cNvPr>
          <p:cNvSpPr>
            <a:spLocks noGrp="1"/>
          </p:cNvSpPr>
          <p:nvPr/>
        </p:nvSpPr>
        <p:spPr>
          <a:xfrm>
            <a:off x="838200" y="230505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 IDENTIFY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4DFACE-FD89-4711-A62A-C80946E72911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1409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71"/>
          </a:bodyPr>
          <a:lstStyle/>
          <a:p>
            <a:pPr algn="ctr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Research officials, staff, committees and policy alignment.</a:t>
            </a:r>
          </a:p>
        </p:txBody>
      </p:sp>
      <p:sp>
        <p:nvSpPr>
          <p:cNvPr id="11" name="stage-1">
            <a:extLst>
              <a:ext uri="{FF2B5EF4-FFF2-40B4-BE49-F238E27FC236}">
                <a16:creationId xmlns:a16="http://schemas.microsoft.com/office/drawing/2014/main" id="{21C218E6-170E-4297-9FFB-49100EA97566}"/>
              </a:ext>
            </a:extLst>
          </p:cNvPr>
          <p:cNvSpPr>
            <a:spLocks noGrp="1"/>
          </p:cNvSpPr>
          <p:nvPr/>
        </p:nvSpPr>
        <p:spPr>
          <a:xfrm>
            <a:off x="2952750" y="2095500"/>
            <a:ext cx="1714500" cy="1619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3CD6D7-76D1-48A5-A559-0322B1EB8104}"/>
              </a:ext>
            </a:extLst>
          </p:cNvPr>
          <p:cNvSpPr>
            <a:spLocks noGrp="1"/>
          </p:cNvSpPr>
          <p:nvPr/>
        </p:nvSpPr>
        <p:spPr>
          <a:xfrm>
            <a:off x="3124200" y="230505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PRIORITIZE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D780BF-B430-4114-93F6-350E971E7347}"/>
              </a:ext>
            </a:extLst>
          </p:cNvPr>
          <p:cNvSpPr>
            <a:spLocks noGrp="1"/>
          </p:cNvSpPr>
          <p:nvPr/>
        </p:nvSpPr>
        <p:spPr>
          <a:xfrm>
            <a:off x="3105150" y="2781300"/>
            <a:ext cx="1409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71"/>
          </a:bodyPr>
          <a:lstStyle/>
          <a:p>
            <a:pPr algn="ctr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Score influence, interest, access and relationship maturity.</a:t>
            </a:r>
          </a:p>
        </p:txBody>
      </p:sp>
      <p:sp>
        <p:nvSpPr>
          <p:cNvPr id="14" name="stage-2">
            <a:extLst>
              <a:ext uri="{FF2B5EF4-FFF2-40B4-BE49-F238E27FC236}">
                <a16:creationId xmlns:a16="http://schemas.microsoft.com/office/drawing/2014/main" id="{58E9AD77-E029-4846-BC7A-2C3460C12745}"/>
              </a:ext>
            </a:extLst>
          </p:cNvPr>
          <p:cNvSpPr>
            <a:spLocks noGrp="1"/>
          </p:cNvSpPr>
          <p:nvPr/>
        </p:nvSpPr>
        <p:spPr>
          <a:xfrm>
            <a:off x="5238750" y="2095500"/>
            <a:ext cx="1714500" cy="1619250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31AFE-F537-482B-BD37-CB7607F605DF}"/>
              </a:ext>
            </a:extLst>
          </p:cNvPr>
          <p:cNvSpPr>
            <a:spLocks noGrp="1"/>
          </p:cNvSpPr>
          <p:nvPr/>
        </p:nvSpPr>
        <p:spPr>
          <a:xfrm>
            <a:off x="5410200" y="230505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 ENGAGE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FA5453-9735-4362-91B9-883D3FB3FF59}"/>
              </a:ext>
            </a:extLst>
          </p:cNvPr>
          <p:cNvSpPr>
            <a:spLocks noGrp="1"/>
          </p:cNvSpPr>
          <p:nvPr/>
        </p:nvSpPr>
        <p:spPr>
          <a:xfrm>
            <a:off x="5391150" y="2781300"/>
            <a:ext cx="1409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71"/>
          </a:bodyPr>
          <a:lstStyle/>
          <a:p>
            <a:pPr algn="ctr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Tailor messages, schedule meetings and manage communications.</a:t>
            </a:r>
          </a:p>
        </p:txBody>
      </p:sp>
      <p:sp>
        <p:nvSpPr>
          <p:cNvPr id="17" name="stage-3">
            <a:extLst>
              <a:ext uri="{FF2B5EF4-FFF2-40B4-BE49-F238E27FC236}">
                <a16:creationId xmlns:a16="http://schemas.microsoft.com/office/drawing/2014/main" id="{F62C1D64-81A7-4AC3-98B2-F9841FCA2C3D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1714500" cy="1619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082187-12E4-4EC2-A484-34ED5825455E}"/>
              </a:ext>
            </a:extLst>
          </p:cNvPr>
          <p:cNvSpPr>
            <a:spLocks noGrp="1"/>
          </p:cNvSpPr>
          <p:nvPr/>
        </p:nvSpPr>
        <p:spPr>
          <a:xfrm>
            <a:off x="7696200" y="230505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  ACTIVATE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16AFD0-1F85-4401-8E29-B63292DC43C9}"/>
              </a:ext>
            </a:extLst>
          </p:cNvPr>
          <p:cNvSpPr>
            <a:spLocks noGrp="1"/>
          </p:cNvSpPr>
          <p:nvPr/>
        </p:nvSpPr>
        <p:spPr>
          <a:xfrm>
            <a:off x="7677150" y="2781300"/>
            <a:ext cx="1409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403"/>
          </a:bodyPr>
          <a:lstStyle/>
          <a:p>
            <a:pPr algn="ctr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Secure site visits, campaigns, session participation and visible support.</a:t>
            </a:r>
          </a:p>
        </p:txBody>
      </p:sp>
      <p:sp>
        <p:nvSpPr>
          <p:cNvPr id="20" name="stage-4">
            <a:extLst>
              <a:ext uri="{FF2B5EF4-FFF2-40B4-BE49-F238E27FC236}">
                <a16:creationId xmlns:a16="http://schemas.microsoft.com/office/drawing/2014/main" id="{9082BDE4-E4F9-4C6B-8876-3EB94582590A}"/>
              </a:ext>
            </a:extLst>
          </p:cNvPr>
          <p:cNvSpPr>
            <a:spLocks noGrp="1"/>
          </p:cNvSpPr>
          <p:nvPr/>
        </p:nvSpPr>
        <p:spPr>
          <a:xfrm>
            <a:off x="9810750" y="2095500"/>
            <a:ext cx="1714500" cy="1619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21BC1B-69FA-4FB8-834C-EC9897375C0C}"/>
              </a:ext>
            </a:extLst>
          </p:cNvPr>
          <p:cNvSpPr>
            <a:spLocks noGrp="1"/>
          </p:cNvSpPr>
          <p:nvPr/>
        </p:nvSpPr>
        <p:spPr>
          <a:xfrm>
            <a:off x="9982200" y="230505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 SUSTAIN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2A56A-C3C8-47FC-9FB8-C324CE56F862}"/>
              </a:ext>
            </a:extLst>
          </p:cNvPr>
          <p:cNvSpPr>
            <a:spLocks noGrp="1"/>
          </p:cNvSpPr>
          <p:nvPr/>
        </p:nvSpPr>
        <p:spPr>
          <a:xfrm>
            <a:off x="9963150" y="2781300"/>
            <a:ext cx="1409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772"/>
          </a:bodyPr>
          <a:lstStyle/>
          <a:p>
            <a:pPr algn="ctr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Record commitments, follow up, report progress and deepen trust.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3B3133-94CB-48E9-AC49-7FDC8B084E06}"/>
              </a:ext>
            </a:extLst>
          </p:cNvPr>
          <p:cNvSpPr>
            <a:spLocks noGrp="1"/>
          </p:cNvSpPr>
          <p:nvPr/>
        </p:nvSpPr>
        <p:spPr>
          <a:xfrm>
            <a:off x="666750" y="442912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Feedback loop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6AA976-4735-4C6F-B045-21D0E88A1BA4}"/>
              </a:ext>
            </a:extLst>
          </p:cNvPr>
          <p:cNvSpPr>
            <a:spLocks noGrp="1"/>
          </p:cNvSpPr>
          <p:nvPr/>
        </p:nvSpPr>
        <p:spPr>
          <a:xfrm>
            <a:off x="1666875" y="4876800"/>
            <a:ext cx="8858250" cy="1905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B72E4F-F83B-40A0-9158-2BB87224D6B8}"/>
              </a:ext>
            </a:extLst>
          </p:cNvPr>
          <p:cNvSpPr>
            <a:spLocks noGrp="1"/>
          </p:cNvSpPr>
          <p:nvPr/>
        </p:nvSpPr>
        <p:spPr>
          <a:xfrm>
            <a:off x="2286000" y="5095875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940"/>
          </a:bodyPr>
          <a:lstStyle/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Each interaction updated the stakeholder map, communication plan and next-best action.</a:t>
            </a:r>
          </a:p>
        </p:txBody>
      </p:sp>
    </p:spTree>
    <p:extLst>
      <p:ext uri="{BB962C8B-B14F-4D97-AF65-F5344CB8AC3E}">
        <p14:creationId xmlns:p14="http://schemas.microsoft.com/office/powerpoint/2010/main" val="524962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6ED7CA4D-46AF-4D18-ADCE-9F7755C3D8F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8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Relationship growth translated into institutional visibility and support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C779BFC-29A9-470B-A28A-06544F5D3B61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F2BE0861-415C-491E-A489-DA1B3A0B3FDC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C1C61A-A0B6-4B4F-8164-4B20DF0785D3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095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The project produced measurable network growth and concrete government-relations outcomes.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A51FB8-41E4-4FB7-AFB8-032798C0E69C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35814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8531ED-7341-4767-97D8-9C09B1C82DFB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304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150+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76DD1-0EEB-4C8E-AF95-C88B3C669415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political stakeholders engaged by Year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5D0736-B213-42AD-89AA-530B363CAF29}"/>
              </a:ext>
            </a:extLst>
          </p:cNvPr>
          <p:cNvSpPr>
            <a:spLocks noGrp="1"/>
          </p:cNvSpPr>
          <p:nvPr/>
        </p:nvSpPr>
        <p:spPr>
          <a:xfrm>
            <a:off x="4305300" y="1952625"/>
            <a:ext cx="35814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752900-95BE-4028-826F-1D7C1DCE8748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304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15×+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D49324-71AC-42E3-BD4A-5F4142CDE827}"/>
              </a:ext>
            </a:extLst>
          </p:cNvPr>
          <p:cNvSpPr>
            <a:spLocks noGrp="1"/>
          </p:cNvSpPr>
          <p:nvPr/>
        </p:nvSpPr>
        <p:spPr>
          <a:xfrm>
            <a:off x="4572000" y="333375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network growth from the starting point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FEE139-FD7B-42C5-A92A-788370DC9ABD}"/>
              </a:ext>
            </a:extLst>
          </p:cNvPr>
          <p:cNvSpPr>
            <a:spLocks noGrp="1"/>
          </p:cNvSpPr>
          <p:nvPr/>
        </p:nvSpPr>
        <p:spPr>
          <a:xfrm>
            <a:off x="8210550" y="1952625"/>
            <a:ext cx="3581400" cy="2381250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64986E-EA28-46C2-BAA9-606F9D6F3DCB}"/>
              </a:ext>
            </a:extLst>
          </p:cNvPr>
          <p:cNvSpPr>
            <a:spLocks noGrp="1"/>
          </p:cNvSpPr>
          <p:nvPr/>
        </p:nvSpPr>
        <p:spPr>
          <a:xfrm>
            <a:off x="8477250" y="2286000"/>
            <a:ext cx="304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BB8916-F2B1-4C25-B1E9-4C93543D4D15}"/>
              </a:ext>
            </a:extLst>
          </p:cNvPr>
          <p:cNvSpPr>
            <a:spLocks noGrp="1"/>
          </p:cNvSpPr>
          <p:nvPr/>
        </p:nvSpPr>
        <p:spPr>
          <a:xfrm>
            <a:off x="8477250" y="333375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Georgia House resolution recognizing BDI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7B909E-5E4C-489D-AF98-17DCFB9A37C3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833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Additional outcomes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F41A4-B732-4B11-BA58-6AFDC95FA370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Legislative-session participation  •  Political campaign engagement  •  Stakeholder site visits  •  Government buy-in  •  Grant support: [insert verified amount]</a:t>
            </a:r>
          </a:p>
        </p:txBody>
      </p:sp>
    </p:spTree>
    <p:extLst>
      <p:ext uri="{BB962C8B-B14F-4D97-AF65-F5344CB8AC3E}">
        <p14:creationId xmlns:p14="http://schemas.microsoft.com/office/powerpoint/2010/main" val="20600475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Macintosh PowerPoint</Application>
  <DocSecurity>0</DocSecurity>
  <PresentationFormat>Widescreen</PresentationFormat>
  <Paragraphs>172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Agnes Abiodun Iwaye</cp:lastModifiedBy>
  <cp:revision>1</cp:revision>
  <dcterms:created xsi:type="dcterms:W3CDTF">2026-09-01T17:44:49Z</dcterms:created>
  <dcterms:modified xsi:type="dcterms:W3CDTF">2026-09-01T22:37:28Z</dcterms:modified>
</cp:coreProperties>
</file>